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3" r:id="rId6"/>
    <p:sldId id="261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82AA3A-CE6F-64F7-6D79-25DA3841B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6434EE-0A2A-36AC-AC12-284FB917A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1E7738-EEBE-B42F-C1F8-B3A58467D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6F23EE-C4C7-D07A-8C8E-83663CAB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C400E6-7914-31F1-58DC-88F1954E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0743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64BCB-B849-2F64-0BF8-2C54C07D4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4EB2A1-D3A2-E9B9-6C58-E380E4134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1B635F-4E55-E001-10EC-51E2E42DF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C36009B-3856-170E-751F-84C1D8C2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314F09-8A1C-91BE-173B-B4983F21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311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277A4F-B987-B551-C72D-3037D57D0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4C8484-DAC3-B63A-C4D4-5AA656C25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46AC02-D1DA-636F-4BA9-728607D0F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407AB3-7B6E-EE0D-72FF-8EA2C791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41C71A-6D8B-2F2A-1378-AB48E72F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811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F636A5-03B5-469E-1AD2-D5D1C99F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8B510B-F07A-A05D-842D-E1F744600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4A233E-5CF6-71A2-40F7-59EE7FDF5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3CCD629-76CC-CCCF-758A-9FD43659E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47EAEA3-0DB3-1C8A-5688-CAABFAB34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40A067-8D36-BF1C-957E-C28105989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248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958198-151D-B3E2-EE9C-C89C7E13C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1DC9F3-7C37-638C-1F74-D4009B20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A6C7011-3F34-EA18-82E7-C088694B3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73EF641-15B0-0429-C32F-6A5E029BB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A2EC0D9-0CAC-11DB-7B6E-03F47C003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C9FDE5A-E2FF-C725-B20B-221EEDDC4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D7DC0B2-DCC5-9286-3D5B-F24ADC6F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51FFEE-D39E-DE8D-5D93-DA02EBDD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153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F10546-51D7-3174-D6F0-1D33086C9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28DCB34-8018-9BCE-EE7D-D3CF9CF8B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D6E0AD-B1E8-F7A5-7C86-592E1800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C3B928B-6498-ECCD-AF85-3D478F086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5267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46FFD56-8BDF-2CE3-DF10-338FB3517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0A63666-FC6D-6585-F405-1EC298F3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130FAAE-18F3-95E9-3CDF-B4B8F0314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134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B916A6-6060-0586-32A7-9E2779038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24FEEBE-A639-E42D-EF6E-381E50E2C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9FF7D4-FEB4-DDDE-EBA4-3E08CF3F2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96C4EE-27ED-07BD-AF9C-2F33C987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8F90AB-FD34-FA8F-D5C2-BC8ACFB46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359701-2F14-5277-95E9-315B1ED87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9213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AD43FC-9C50-BBCD-ED41-144108734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BFF1BC-4115-1836-04FD-2EF064425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D181590-C2FC-D44A-3082-A98FC6FB2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805DDA-98C2-6E65-7B04-06179EC2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CD9CBB-12C3-F1F4-A331-DD8A6555B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38A0593-355B-E2B5-A520-56524463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079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62A2D-1FC0-25E9-E3C1-625F7D0E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F755615-FD0C-1853-D1F7-1BD924857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A6DB55-61BA-87D9-6590-238CEB339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C18BEC-DA9F-C663-32A1-EF4F614FE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E3E189-0078-E192-BAB6-8D3622A42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9578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E1D4724-ED68-399E-AB7A-8F29930255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CE60C7-7A40-DC4B-8366-128A96CED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96ABF8-BFF4-2434-0EC7-7B651E551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FCFA21-CA9E-8826-F1E2-97D9B9833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A57288-25BF-B989-786E-754BCF8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429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6E33CDE-39A0-EDBC-FA0F-B22455BB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97F798-C5D5-0652-D02D-2521BE119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19E5600-FE32-0C66-429C-43E15C309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0F72E-37C3-40B1-B346-C16CF8F88D16}" type="datetimeFigureOut">
              <a:rPr kumimoji="1" lang="ja-JP" altLang="en-US" smtClean="0"/>
              <a:t>2024/5/16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B391F9-799A-4F6A-0AA0-17D026664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9D57C37-A653-4634-4043-E9B631FEE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E97E2-3181-463B-BBFB-CE3E8607CD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30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08C241-220A-E207-5512-078134ADF2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err="1"/>
              <a:t>getint</a:t>
            </a:r>
            <a:r>
              <a:rPr kumimoji="1" lang="ja-JP" altLang="en-US" dirty="0"/>
              <a:t>関数について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D954F22-CF9C-7DA7-5EDB-3883C159B0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13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1D787-35FD-565A-EE0D-333586F4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準備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0EDF55-2EEB-FFF5-F4A3-9B74244B7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ja-JP" altLang="en-US" dirty="0"/>
              <a:t>この資料を含むディレクトリ（おそらく</a:t>
            </a:r>
            <a:r>
              <a:rPr lang="en-US" altLang="ja-JP" dirty="0" err="1"/>
              <a:t>test_getint</a:t>
            </a:r>
            <a:r>
              <a:rPr lang="ja-JP" altLang="en-US" dirty="0"/>
              <a:t>）を（</a:t>
            </a:r>
            <a:r>
              <a:rPr lang="en-US" altLang="ja-JP" dirty="0"/>
              <a:t>USB</a:t>
            </a:r>
            <a:r>
              <a:rPr lang="ja-JP" altLang="en-US" dirty="0"/>
              <a:t>メモリではなく）</a:t>
            </a:r>
            <a:r>
              <a:rPr lang="en-US" altLang="ja-JP" dirty="0"/>
              <a:t>PC</a:t>
            </a:r>
            <a:r>
              <a:rPr lang="ja-JP" altLang="en-US" dirty="0"/>
              <a:t>のホームディレクトリ上にコピーする。</a:t>
            </a:r>
            <a:endParaRPr lang="en-US" altLang="ja-JP" dirty="0"/>
          </a:p>
          <a:p>
            <a:r>
              <a:rPr lang="en-US" altLang="ja-JP" dirty="0" err="1"/>
              <a:t>vscode</a:t>
            </a:r>
            <a:endParaRPr lang="en-US" altLang="ja-JP" dirty="0"/>
          </a:p>
          <a:p>
            <a:pPr lvl="1"/>
            <a:r>
              <a:rPr lang="en-US" altLang="ja-JP" dirty="0" err="1"/>
              <a:t>test_getint</a:t>
            </a:r>
            <a:r>
              <a:rPr lang="ja-JP" altLang="en-US" dirty="0"/>
              <a:t>ディレクトリを</a:t>
            </a:r>
            <a:r>
              <a:rPr lang="en-US" altLang="ja-JP" dirty="0" err="1"/>
              <a:t>vscode</a:t>
            </a:r>
            <a:r>
              <a:rPr lang="ja-JP" altLang="en-US" dirty="0"/>
              <a:t>で開く。</a:t>
            </a:r>
            <a:br>
              <a:rPr lang="en-US" altLang="ja-JP" dirty="0"/>
            </a:br>
            <a:r>
              <a:rPr lang="en-US" altLang="ja-JP" dirty="0"/>
              <a:t> code </a:t>
            </a:r>
            <a:r>
              <a:rPr lang="en-US" altLang="ja-JP" dirty="0" err="1"/>
              <a:t>test_getint</a:t>
            </a:r>
            <a:endParaRPr lang="en-US" altLang="ja-JP" dirty="0"/>
          </a:p>
          <a:p>
            <a:pPr lvl="1"/>
            <a:r>
              <a:rPr lang="en-US" altLang="ja-JP" dirty="0" err="1"/>
              <a:t>main.c</a:t>
            </a:r>
            <a:r>
              <a:rPr lang="ja-JP" altLang="en-US" dirty="0"/>
              <a:t>および</a:t>
            </a:r>
            <a:r>
              <a:rPr lang="en-US" altLang="ja-JP" dirty="0" err="1"/>
              <a:t>getint.h</a:t>
            </a:r>
            <a:r>
              <a:rPr lang="ja-JP" altLang="en-US" dirty="0"/>
              <a:t>を</a:t>
            </a:r>
            <a:r>
              <a:rPr lang="en-US" altLang="ja-JP" dirty="0"/>
              <a:t>(</a:t>
            </a:r>
            <a:r>
              <a:rPr lang="en-US" altLang="ja-JP" dirty="0" err="1"/>
              <a:t>vscode</a:t>
            </a:r>
            <a:r>
              <a:rPr lang="ja-JP" altLang="en-US" dirty="0"/>
              <a:t>で</a:t>
            </a:r>
            <a:r>
              <a:rPr lang="en-US" altLang="ja-JP" dirty="0"/>
              <a:t>)</a:t>
            </a:r>
            <a:r>
              <a:rPr lang="ja-JP" altLang="en-US" dirty="0"/>
              <a:t>開く。</a:t>
            </a:r>
            <a:endParaRPr lang="en-US" altLang="ja-JP" dirty="0"/>
          </a:p>
          <a:p>
            <a:r>
              <a:rPr lang="ja-JP" altLang="en-US" dirty="0"/>
              <a:t>端末 </a:t>
            </a:r>
            <a:endParaRPr lang="en-US" altLang="ja-JP" dirty="0"/>
          </a:p>
          <a:p>
            <a:pPr lvl="1"/>
            <a:r>
              <a:rPr lang="en-US" altLang="ja-JP" dirty="0" err="1"/>
              <a:t>test_getint</a:t>
            </a:r>
            <a:r>
              <a:rPr lang="ja-JP" altLang="en-US" dirty="0"/>
              <a:t>ディレクトリ内でコンパイル・実行する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	cd </a:t>
            </a:r>
            <a:r>
              <a:rPr lang="en-US" altLang="ja-JP" dirty="0" err="1"/>
              <a:t>test_getint</a:t>
            </a:r>
            <a:br>
              <a:rPr lang="en-US" altLang="ja-JP" dirty="0"/>
            </a:br>
            <a:r>
              <a:rPr lang="en-US" altLang="ja-JP" dirty="0"/>
              <a:t>          </a:t>
            </a:r>
            <a:r>
              <a:rPr lang="en-US" altLang="ja-JP" dirty="0" err="1"/>
              <a:t>gcc</a:t>
            </a:r>
            <a:r>
              <a:rPr lang="en-US" altLang="ja-JP" dirty="0"/>
              <a:t> -Wall -DLINUX -o main100 </a:t>
            </a:r>
            <a:r>
              <a:rPr lang="en-US" altLang="ja-JP" dirty="0" err="1"/>
              <a:t>getint.c</a:t>
            </a:r>
            <a:r>
              <a:rPr lang="en-US" altLang="ja-JP" dirty="0"/>
              <a:t> </a:t>
            </a:r>
            <a:r>
              <a:rPr lang="en-US" altLang="ja-JP" dirty="0" err="1"/>
              <a:t>main.c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　　　</a:t>
            </a:r>
            <a:r>
              <a:rPr lang="en-US" altLang="ja-JP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./main100 -a10 -b20 -b0xff </a:t>
            </a:r>
            <a:endParaRPr lang="en-US" altLang="ja-JP" dirty="0"/>
          </a:p>
          <a:p>
            <a:pPr lvl="1"/>
            <a:r>
              <a:rPr lang="ja-JP" altLang="en-US" dirty="0"/>
              <a:t>なぜこのような出力になるのか考える。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352944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F8ABB1-2DB3-B8AB-165A-BB94AC084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</a:t>
            </a:r>
            <a:r>
              <a:rPr kumimoji="1" lang="en-US" altLang="ja-JP" dirty="0"/>
              <a:t>ain</a:t>
            </a:r>
            <a:r>
              <a:rPr kumimoji="1" lang="ja-JP" altLang="en-US" dirty="0"/>
              <a:t>関数の仮引数について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F869512-1B19-AB15-78D0-C1EBF1E9B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753" y="1825625"/>
            <a:ext cx="799209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ja-JP" sz="3200" b="0" dirty="0">
                <a:effectLst/>
                <a:latin typeface="Consolas" panose="020B0609020204030204" pitchFamily="49" charset="0"/>
              </a:rPr>
              <a:t>int main(int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argc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, char **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argv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US" altLang="ja-JP" sz="3200" b="0" dirty="0">
                <a:effectLst/>
                <a:latin typeface="Consolas" panose="020B0609020204030204" pitchFamily="49" charset="0"/>
              </a:rPr>
              <a:t> 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("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argc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 = %d\n",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argc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ja-JP" sz="3200" b="0" dirty="0">
                <a:effectLst/>
                <a:latin typeface="Consolas" panose="020B0609020204030204" pitchFamily="49" charset="0"/>
              </a:rPr>
              <a:t> for(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 = 0;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 &lt;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argc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;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altLang="ja-JP" sz="3200" b="0" dirty="0">
                <a:effectLst/>
                <a:latin typeface="Consolas" panose="020B0609020204030204" pitchFamily="49" charset="0"/>
              </a:rPr>
              <a:t>  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printf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("%d: %s\n",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, 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argv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[</a:t>
            </a:r>
            <a:r>
              <a:rPr lang="en-US" altLang="ja-JP" sz="3200" b="0" dirty="0" err="1">
                <a:effectLst/>
                <a:latin typeface="Consolas" panose="020B0609020204030204" pitchFamily="49" charset="0"/>
              </a:rPr>
              <a:t>i</a:t>
            </a:r>
            <a:r>
              <a:rPr lang="en-US" altLang="ja-JP" sz="3200" b="0" dirty="0">
                <a:effectLst/>
                <a:latin typeface="Consolas" panose="020B0609020204030204" pitchFamily="49" charset="0"/>
              </a:rPr>
              <a:t>]);</a:t>
            </a:r>
          </a:p>
          <a:p>
            <a:pPr marL="0" indent="0">
              <a:buNone/>
            </a:pPr>
            <a:r>
              <a:rPr lang="en-US" altLang="ja-JP" sz="3200" b="0" dirty="0">
                <a:effectLst/>
                <a:latin typeface="Consolas" panose="020B0609020204030204" pitchFamily="49" charset="0"/>
              </a:rPr>
              <a:t> }</a:t>
            </a:r>
          </a:p>
          <a:p>
            <a:pPr marL="0" indent="0">
              <a:buNone/>
            </a:pPr>
            <a:r>
              <a:rPr lang="en-US" altLang="ja-JP" sz="3200" dirty="0"/>
              <a:t>}</a:t>
            </a:r>
          </a:p>
          <a:p>
            <a:pPr marL="0" indent="0">
              <a:buNone/>
            </a:pPr>
            <a:r>
              <a:rPr lang="ja-JP" altLang="en-US" sz="3200" dirty="0"/>
              <a:t>コマンド</a:t>
            </a:r>
            <a:endParaRPr lang="en-US" altLang="ja-JP" sz="3200" dirty="0"/>
          </a:p>
          <a:p>
            <a:pPr marL="0" indent="0">
              <a:buNone/>
            </a:pPr>
            <a:r>
              <a:rPr lang="en-US" altLang="ja-JP" sz="3200" b="0" dirty="0">
                <a:effectLst/>
                <a:latin typeface="Consolas" panose="020B0609020204030204" pitchFamily="49" charset="0"/>
              </a:rPr>
              <a:t>./main100 -a10 -b20 -b0xff </a:t>
            </a:r>
          </a:p>
          <a:p>
            <a:pPr marL="0" indent="0">
              <a:buNone/>
            </a:pPr>
            <a:endParaRPr lang="ja-JP" altLang="en-US" sz="3200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444D171F-1DD2-F037-A1E4-13C138F49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87740" y="1825625"/>
            <a:ext cx="2566059" cy="296013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ja-JP" altLang="en-US" dirty="0"/>
              <a:t>出力</a:t>
            </a:r>
            <a:endParaRPr lang="en-US" altLang="ja-JP" dirty="0"/>
          </a:p>
          <a:p>
            <a:pPr marL="0" indent="0">
              <a:buNone/>
            </a:pPr>
            <a:r>
              <a:rPr lang="en-US" altLang="ja-JP" dirty="0" err="1"/>
              <a:t>argc</a:t>
            </a:r>
            <a:r>
              <a:rPr lang="en-US" altLang="ja-JP" dirty="0"/>
              <a:t> = 4</a:t>
            </a:r>
          </a:p>
          <a:p>
            <a:pPr marL="0" indent="0">
              <a:buNone/>
            </a:pPr>
            <a:r>
              <a:rPr lang="en-US" altLang="ja-JP" dirty="0"/>
              <a:t>0: ./main100</a:t>
            </a:r>
          </a:p>
          <a:p>
            <a:pPr marL="0" indent="0">
              <a:buNone/>
            </a:pPr>
            <a:r>
              <a:rPr lang="en-US" altLang="ja-JP" dirty="0"/>
              <a:t>1: -a10</a:t>
            </a:r>
          </a:p>
          <a:p>
            <a:pPr marL="0" indent="0">
              <a:buNone/>
            </a:pPr>
            <a:r>
              <a:rPr lang="en-US" altLang="ja-JP" dirty="0"/>
              <a:t>2: -b20</a:t>
            </a:r>
          </a:p>
          <a:p>
            <a:pPr marL="0" indent="0">
              <a:buNone/>
            </a:pPr>
            <a:r>
              <a:rPr lang="en-US" altLang="ja-JP" dirty="0"/>
              <a:t>3: -b0xff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3590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F7AB52-5CF5-EEF8-9E01-61EFEC8D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getint</a:t>
            </a:r>
            <a:r>
              <a:rPr kumimoji="1" lang="ja-JP" altLang="en-US" dirty="0"/>
              <a:t>関数の引数について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C1A633-7BF6-0069-73DA-93B193080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7490"/>
            <a:ext cx="2558143" cy="26988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getint(</a:t>
            </a:r>
            <a:br>
              <a:rPr lang="sv-SE" altLang="ja-JP" b="0" dirty="0">
                <a:effectLst/>
                <a:latin typeface="Consolas" panose="020B0609020204030204" pitchFamily="49" charset="0"/>
              </a:rPr>
            </a:br>
            <a:r>
              <a:rPr lang="sv-SE" altLang="ja-JP" b="0" dirty="0">
                <a:effectLst/>
                <a:latin typeface="Consolas" panose="020B0609020204030204" pitchFamily="49" charset="0"/>
              </a:rPr>
              <a:t>	argc,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argv,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"-a",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&amp;val</a:t>
            </a:r>
          </a:p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kumimoji="1" lang="ja-JP" altLang="en-US" b="1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1427F1-CD8C-AF38-E8D4-D1B3F39B5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8957" y="4250953"/>
            <a:ext cx="6251863" cy="250886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①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4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②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[0]: "./main100"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[1]: "-a10"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[2]: "-b20"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[3]: "-b0xff"</a:t>
            </a:r>
          </a:p>
          <a:p>
            <a:pPr marL="0" indent="0">
              <a:buNone/>
            </a:pP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0849FD9-E98E-EB02-4D66-B055F2103603}"/>
              </a:ext>
            </a:extLst>
          </p:cNvPr>
          <p:cNvSpPr txBox="1">
            <a:spLocks/>
          </p:cNvSpPr>
          <p:nvPr/>
        </p:nvSpPr>
        <p:spPr>
          <a:xfrm>
            <a:off x="3064329" y="1690688"/>
            <a:ext cx="8728363" cy="269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 ①</a:t>
            </a:r>
            <a:r>
              <a:rPr lang="ja-JP" altLang="en-US" dirty="0">
                <a:latin typeface="Consolas" panose="020B0609020204030204" pitchFamily="49" charset="0"/>
              </a:rPr>
              <a:t>文字列の個数</a:t>
            </a:r>
            <a:endParaRPr lang="en-US" altLang="ja-JP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②</a:t>
            </a:r>
            <a:r>
              <a:rPr lang="ja-JP" altLang="en-US" dirty="0">
                <a:latin typeface="Consolas" panose="020B0609020204030204" pitchFamily="49" charset="0"/>
              </a:rPr>
              <a:t>文字列（へのポインタ）の配列の先頭アドレス</a:t>
            </a:r>
            <a:r>
              <a:rPr lang="sv-SE" altLang="ja-JP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オプション名（文字列の先頭）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オプション値の代入先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DF6FF8-D6AA-E04D-9E0B-8408A63D4670}"/>
              </a:ext>
            </a:extLst>
          </p:cNvPr>
          <p:cNvSpPr/>
          <p:nvPr/>
        </p:nvSpPr>
        <p:spPr>
          <a:xfrm>
            <a:off x="7873340" y="4298868"/>
            <a:ext cx="1733798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/>
              <a:t>val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← </a:t>
            </a:r>
            <a:r>
              <a:rPr kumimoji="1" lang="en-US" altLang="ja-JP" sz="2400" dirty="0"/>
              <a:t>10</a:t>
            </a:r>
            <a:endParaRPr lang="en-US" altLang="ja-JP" sz="2400" dirty="0"/>
          </a:p>
          <a:p>
            <a:pPr algn="ctr"/>
            <a:r>
              <a:rPr kumimoji="1" lang="ja-JP" altLang="en-US" sz="2400" dirty="0"/>
              <a:t>返却値：</a:t>
            </a:r>
            <a:r>
              <a:rPr kumimoji="1" lang="en-US" altLang="ja-JP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80206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F7AB52-5CF5-EEF8-9E01-61EFEC8D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getint</a:t>
            </a:r>
            <a:r>
              <a:rPr kumimoji="1" lang="ja-JP" altLang="en-US" dirty="0"/>
              <a:t>関数の引数について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C1A633-7BF6-0069-73DA-93B193080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7490"/>
            <a:ext cx="2558143" cy="26988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getint(</a:t>
            </a:r>
            <a:br>
              <a:rPr lang="sv-SE" altLang="ja-JP" b="0" dirty="0">
                <a:effectLst/>
                <a:latin typeface="Consolas" panose="020B0609020204030204" pitchFamily="49" charset="0"/>
              </a:rPr>
            </a:br>
            <a:r>
              <a:rPr lang="sv-SE" altLang="ja-JP" b="0" dirty="0">
                <a:effectLst/>
                <a:latin typeface="Consolas" panose="020B0609020204030204" pitchFamily="49" charset="0"/>
              </a:rPr>
              <a:t>	argc,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argv,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"-b",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&amp;val</a:t>
            </a:r>
          </a:p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kumimoji="1" lang="ja-JP" altLang="en-US" b="1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1427F1-CD8C-AF38-E8D4-D1B3F39B5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8957" y="4250953"/>
            <a:ext cx="6251863" cy="250886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①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4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②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[0]: "./main100"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[1]: "-a10"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[2]: "-b20"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[3]: "-b0xff"</a:t>
            </a:r>
          </a:p>
          <a:p>
            <a:pPr marL="0" indent="0">
              <a:buNone/>
            </a:pP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0849FD9-E98E-EB02-4D66-B055F2103603}"/>
              </a:ext>
            </a:extLst>
          </p:cNvPr>
          <p:cNvSpPr txBox="1">
            <a:spLocks/>
          </p:cNvSpPr>
          <p:nvPr/>
        </p:nvSpPr>
        <p:spPr>
          <a:xfrm>
            <a:off x="3064329" y="1690688"/>
            <a:ext cx="8728363" cy="269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 ①</a:t>
            </a:r>
            <a:r>
              <a:rPr lang="ja-JP" altLang="en-US" dirty="0">
                <a:latin typeface="Consolas" panose="020B0609020204030204" pitchFamily="49" charset="0"/>
              </a:rPr>
              <a:t>文字列の個数</a:t>
            </a:r>
            <a:endParaRPr lang="en-US" altLang="ja-JP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②</a:t>
            </a:r>
            <a:r>
              <a:rPr lang="ja-JP" altLang="en-US" dirty="0">
                <a:latin typeface="Consolas" panose="020B0609020204030204" pitchFamily="49" charset="0"/>
              </a:rPr>
              <a:t>文字列（へのポインタ）の配列の先頭アドレス</a:t>
            </a:r>
            <a:r>
              <a:rPr lang="sv-SE" altLang="ja-JP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オプション名（文字列の先頭）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オプション値の代入先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DF6FF8-D6AA-E04D-9E0B-8408A63D4670}"/>
              </a:ext>
            </a:extLst>
          </p:cNvPr>
          <p:cNvSpPr/>
          <p:nvPr/>
        </p:nvSpPr>
        <p:spPr>
          <a:xfrm>
            <a:off x="7873340" y="4298868"/>
            <a:ext cx="1733798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/>
              <a:t>val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← </a:t>
            </a:r>
            <a:r>
              <a:rPr kumimoji="1" lang="en-US" altLang="ja-JP" sz="2400" dirty="0"/>
              <a:t>20</a:t>
            </a:r>
          </a:p>
          <a:p>
            <a:pPr algn="ctr"/>
            <a:r>
              <a:rPr lang="en-US" altLang="ja-JP" sz="2400" dirty="0" err="1"/>
              <a:t>val</a:t>
            </a:r>
            <a:r>
              <a:rPr lang="en-US" altLang="ja-JP" sz="2400" dirty="0"/>
              <a:t> </a:t>
            </a:r>
            <a:r>
              <a:rPr lang="ja-JP" altLang="en-US" sz="2400" dirty="0"/>
              <a:t>← </a:t>
            </a:r>
            <a:r>
              <a:rPr lang="en-US" altLang="ja-JP" sz="2400" b="1" u="sng" dirty="0"/>
              <a:t>255</a:t>
            </a:r>
          </a:p>
          <a:p>
            <a:pPr algn="ctr"/>
            <a:r>
              <a:rPr kumimoji="1" lang="ja-JP" altLang="en-US" sz="2400" dirty="0"/>
              <a:t>返却値：</a:t>
            </a:r>
            <a:r>
              <a:rPr kumimoji="1" lang="en-US" altLang="ja-JP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5406103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F7AB52-5CF5-EEF8-9E01-61EFEC8D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getint</a:t>
            </a:r>
            <a:r>
              <a:rPr kumimoji="1" lang="ja-JP" altLang="en-US" dirty="0"/>
              <a:t>関数の引数について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C1A633-7BF6-0069-73DA-93B193080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7490"/>
            <a:ext cx="2558143" cy="26988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getint(</a:t>
            </a:r>
            <a:br>
              <a:rPr lang="sv-SE" altLang="ja-JP" b="0" dirty="0">
                <a:effectLst/>
                <a:latin typeface="Consolas" panose="020B0609020204030204" pitchFamily="49" charset="0"/>
              </a:rPr>
            </a:br>
            <a:r>
              <a:rPr lang="sv-SE" altLang="ja-JP" b="0" dirty="0">
                <a:effectLst/>
                <a:latin typeface="Consolas" panose="020B0609020204030204" pitchFamily="49" charset="0"/>
              </a:rPr>
              <a:t>	argc,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argv,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”./main",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&amp;val</a:t>
            </a:r>
          </a:p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kumimoji="1" lang="ja-JP" altLang="en-US" b="1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1427F1-CD8C-AF38-E8D4-D1B3F39B5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8957" y="4250953"/>
            <a:ext cx="6251863" cy="250886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①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4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②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[0]: "./main100"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↓ 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[1]: "-a10"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[2]: "-b20"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[3]: "-b0xff"</a:t>
            </a:r>
          </a:p>
          <a:p>
            <a:pPr marL="0" indent="0">
              <a:buNone/>
            </a:pP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0849FD9-E98E-EB02-4D66-B055F2103603}"/>
              </a:ext>
            </a:extLst>
          </p:cNvPr>
          <p:cNvSpPr txBox="1">
            <a:spLocks/>
          </p:cNvSpPr>
          <p:nvPr/>
        </p:nvSpPr>
        <p:spPr>
          <a:xfrm>
            <a:off x="3064329" y="1690688"/>
            <a:ext cx="8728363" cy="269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 ①</a:t>
            </a:r>
            <a:r>
              <a:rPr lang="ja-JP" altLang="en-US" dirty="0">
                <a:latin typeface="Consolas" panose="020B0609020204030204" pitchFamily="49" charset="0"/>
              </a:rPr>
              <a:t>文字列の個数</a:t>
            </a:r>
            <a:endParaRPr lang="en-US" altLang="ja-JP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②</a:t>
            </a:r>
            <a:r>
              <a:rPr lang="ja-JP" altLang="en-US" dirty="0">
                <a:latin typeface="Consolas" panose="020B0609020204030204" pitchFamily="49" charset="0"/>
              </a:rPr>
              <a:t>文字列（へのポインタ）の配列の先頭アドレス</a:t>
            </a:r>
            <a:r>
              <a:rPr lang="sv-SE" altLang="ja-JP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オプション名（文字列の先頭）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オプション値の代入先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00598F4-43D5-AE32-F770-E7E606B4DD04}"/>
              </a:ext>
            </a:extLst>
          </p:cNvPr>
          <p:cNvSpPr/>
          <p:nvPr/>
        </p:nvSpPr>
        <p:spPr>
          <a:xfrm>
            <a:off x="7873340" y="4298868"/>
            <a:ext cx="1733798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/>
              <a:t>val</a:t>
            </a:r>
            <a:r>
              <a:rPr kumimoji="1" lang="en-US" altLang="ja-JP" sz="2400" dirty="0"/>
              <a:t> </a:t>
            </a:r>
            <a:r>
              <a:rPr kumimoji="1" lang="ja-JP" altLang="en-US" sz="2400" dirty="0"/>
              <a:t>← </a:t>
            </a:r>
            <a:r>
              <a:rPr lang="en-US" altLang="ja-JP" sz="2400" dirty="0"/>
              <a:t>100</a:t>
            </a:r>
          </a:p>
          <a:p>
            <a:pPr algn="ctr"/>
            <a:r>
              <a:rPr kumimoji="1" lang="ja-JP" altLang="en-US" sz="2400" dirty="0"/>
              <a:t>返却値：</a:t>
            </a:r>
            <a:r>
              <a:rPr kumimoji="1" lang="en-US" altLang="ja-JP" sz="240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106309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F7AB52-5CF5-EEF8-9E01-61EFEC8DF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getint</a:t>
            </a:r>
            <a:r>
              <a:rPr kumimoji="1" lang="ja-JP" altLang="en-US" dirty="0"/>
              <a:t>関数の引数について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C1A633-7BF6-0069-73DA-93B193080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57490"/>
            <a:ext cx="2558143" cy="269887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getint(</a:t>
            </a:r>
            <a:br>
              <a:rPr lang="sv-SE" altLang="ja-JP" b="0" dirty="0">
                <a:effectLst/>
                <a:latin typeface="Consolas" panose="020B0609020204030204" pitchFamily="49" charset="0"/>
              </a:rPr>
            </a:br>
            <a:r>
              <a:rPr lang="sv-SE" altLang="ja-JP" b="0" dirty="0">
                <a:effectLst/>
                <a:latin typeface="Consolas" panose="020B0609020204030204" pitchFamily="49" charset="0"/>
              </a:rPr>
              <a:t>	argc-1,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argv+2,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”./main", </a:t>
            </a:r>
          </a:p>
          <a:p>
            <a:pPr marL="0" indent="0">
              <a:buNone/>
            </a:pPr>
            <a:r>
              <a:rPr lang="sv-SE" altLang="ja-JP" dirty="0">
                <a:latin typeface="Consolas" panose="020B0609020204030204" pitchFamily="49" charset="0"/>
              </a:rPr>
              <a:t>	</a:t>
            </a:r>
            <a:r>
              <a:rPr lang="sv-SE" altLang="ja-JP" b="0" dirty="0">
                <a:effectLst/>
                <a:latin typeface="Consolas" panose="020B0609020204030204" pitchFamily="49" charset="0"/>
              </a:rPr>
              <a:t>&amp;val</a:t>
            </a:r>
          </a:p>
          <a:p>
            <a:pPr marL="0" indent="0">
              <a:buNone/>
            </a:pPr>
            <a:r>
              <a:rPr lang="sv-SE" altLang="ja-JP" b="0" dirty="0"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kumimoji="1" lang="ja-JP" altLang="en-US" b="1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1427F1-CD8C-AF38-E8D4-D1B3F39B5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08957" y="4250953"/>
            <a:ext cx="6251863" cy="250886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①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3</a:t>
            </a:r>
          </a:p>
          <a:p>
            <a:pPr marL="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[0]: "./main100"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②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[1]: "-a10"</a:t>
            </a:r>
          </a:p>
          <a:p>
            <a:pPr marL="0" indent="0">
              <a:buNone/>
            </a:pPr>
            <a:r>
              <a:rPr lang="ja-JP" altLang="en-US" dirty="0">
                <a:solidFill>
                  <a:schemeClr val="tx1"/>
                </a:solidFill>
                <a:latin typeface="Consolas" panose="020B0609020204030204" pitchFamily="49" charset="0"/>
              </a:rPr>
              <a:t>↓ 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[2]: "-b20"</a:t>
            </a:r>
          </a:p>
          <a:p>
            <a:pPr marL="0" indent="0">
              <a:buNone/>
            </a:pPr>
            <a:r>
              <a:rPr lang="ja-JP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　</a:t>
            </a:r>
            <a:r>
              <a:rPr lang="en-US" altLang="ja-JP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argv</a:t>
            </a:r>
            <a:r>
              <a:rPr lang="en-US" altLang="ja-JP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[3]: "-b0xff"</a:t>
            </a:r>
          </a:p>
          <a:p>
            <a:pPr marL="0" indent="0">
              <a:buNone/>
            </a:pPr>
            <a:endParaRPr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60849FD9-E98E-EB02-4D66-B055F2103603}"/>
              </a:ext>
            </a:extLst>
          </p:cNvPr>
          <p:cNvSpPr txBox="1">
            <a:spLocks/>
          </p:cNvSpPr>
          <p:nvPr/>
        </p:nvSpPr>
        <p:spPr>
          <a:xfrm>
            <a:off x="3064329" y="1690688"/>
            <a:ext cx="8728363" cy="26988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 ①</a:t>
            </a:r>
            <a:r>
              <a:rPr lang="ja-JP" altLang="en-US" dirty="0">
                <a:latin typeface="Consolas" panose="020B0609020204030204" pitchFamily="49" charset="0"/>
              </a:rPr>
              <a:t>文字列の個数</a:t>
            </a:r>
            <a:endParaRPr lang="en-US" altLang="ja-JP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②</a:t>
            </a:r>
            <a:r>
              <a:rPr lang="ja-JP" altLang="en-US" dirty="0">
                <a:latin typeface="Consolas" panose="020B0609020204030204" pitchFamily="49" charset="0"/>
              </a:rPr>
              <a:t>文字列（へのポインタ）の配列の先頭アドレス</a:t>
            </a:r>
            <a:r>
              <a:rPr lang="sv-SE" altLang="ja-JP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オプション名（文字列の先頭）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ja-JP" altLang="en-US" dirty="0"/>
              <a:t>→ オプション値の代入先</a:t>
            </a:r>
            <a:endParaRPr lang="en-US" altLang="ja-JP" dirty="0"/>
          </a:p>
          <a:p>
            <a:pPr marL="0" indent="0">
              <a:buFont typeface="Arial" panose="020B0604020202020204" pitchFamily="34" charset="0"/>
              <a:buNone/>
            </a:pPr>
            <a:endParaRPr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88F1B50-D78F-BB05-7672-15B01567D894}"/>
              </a:ext>
            </a:extLst>
          </p:cNvPr>
          <p:cNvSpPr/>
          <p:nvPr/>
        </p:nvSpPr>
        <p:spPr>
          <a:xfrm>
            <a:off x="7873339" y="4298868"/>
            <a:ext cx="2873829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 err="1"/>
              <a:t>val</a:t>
            </a:r>
            <a:r>
              <a:rPr lang="ja-JP" altLang="en-US" sz="2400" dirty="0"/>
              <a:t>への代入は無し</a:t>
            </a:r>
            <a:endParaRPr lang="en-US" altLang="ja-JP" sz="2400" dirty="0"/>
          </a:p>
          <a:p>
            <a:pPr algn="ctr"/>
            <a:r>
              <a:rPr kumimoji="1" lang="ja-JP" altLang="en-US" sz="2400" dirty="0"/>
              <a:t>返却値：</a:t>
            </a:r>
            <a:r>
              <a:rPr lang="en-US" altLang="ja-JP" sz="2400" dirty="0"/>
              <a:t>1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4869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31D787-35FD-565A-EE0D-333586F45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作業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0EDF55-2EEB-FFF5-F4A3-9B74244B7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 err="1"/>
              <a:t>getint</a:t>
            </a:r>
            <a:r>
              <a:rPr lang="ja-JP" altLang="en-US" dirty="0"/>
              <a:t>の第</a:t>
            </a:r>
            <a:r>
              <a:rPr lang="en-US" altLang="ja-JP" dirty="0"/>
              <a:t>1</a:t>
            </a:r>
            <a:r>
              <a:rPr lang="ja-JP" altLang="en-US" dirty="0"/>
              <a:t>引数を</a:t>
            </a:r>
            <a:r>
              <a:rPr lang="en-US" altLang="ja-JP" dirty="0"/>
              <a:t>argc+1</a:t>
            </a:r>
            <a:r>
              <a:rPr lang="ja-JP" altLang="en-US" dirty="0"/>
              <a:t>に、第</a:t>
            </a:r>
            <a:r>
              <a:rPr lang="en-US" altLang="ja-JP" dirty="0"/>
              <a:t>2</a:t>
            </a:r>
            <a:r>
              <a:rPr lang="ja-JP" altLang="en-US" dirty="0"/>
              <a:t>引数を</a:t>
            </a:r>
            <a:r>
              <a:rPr lang="en-US" altLang="ja-JP" dirty="0"/>
              <a:t>argv-1</a:t>
            </a:r>
            <a:r>
              <a:rPr lang="ja-JP" altLang="en-US" dirty="0"/>
              <a:t>に修正して</a:t>
            </a:r>
            <a:br>
              <a:rPr lang="en-US" altLang="ja-JP" dirty="0"/>
            </a:br>
            <a:r>
              <a:rPr lang="ja-JP" altLang="en-US" dirty="0"/>
              <a:t>実行結果の違いを確認せよ。</a:t>
            </a:r>
            <a:endParaRPr lang="en-US" altLang="ja-JP" dirty="0"/>
          </a:p>
          <a:p>
            <a:r>
              <a:rPr lang="ja-JP" altLang="en-US" dirty="0"/>
              <a:t>課題に入力せよ</a:t>
            </a:r>
            <a:endParaRPr lang="en-US" altLang="ja-JP" dirty="0"/>
          </a:p>
          <a:p>
            <a:r>
              <a:rPr lang="ja-JP" altLang="en-US" dirty="0"/>
              <a:t>確認が終わったら、</a:t>
            </a:r>
            <a:r>
              <a:rPr lang="en-US" altLang="ja-JP" dirty="0" err="1"/>
              <a:t>vscode</a:t>
            </a:r>
            <a:r>
              <a:rPr lang="ja-JP" altLang="en-US" dirty="0"/>
              <a:t>を終了し、</a:t>
            </a:r>
            <a:r>
              <a:rPr lang="en-US" altLang="ja-JP" dirty="0" err="1"/>
              <a:t>test_getint</a:t>
            </a:r>
            <a:r>
              <a:rPr lang="ja-JP" altLang="en-US" dirty="0"/>
              <a:t>ディレクトリを自分の</a:t>
            </a:r>
            <a:r>
              <a:rPr lang="en-US" altLang="ja-JP" dirty="0"/>
              <a:t>USB</a:t>
            </a:r>
            <a:r>
              <a:rPr lang="ja-JP" altLang="en-US" dirty="0"/>
              <a:t>メモリ内にカット＆ペースト（移動）せよ。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70145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084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640</Words>
  <Application>Microsoft Office PowerPoint</Application>
  <PresentationFormat>ワイド画面</PresentationFormat>
  <Paragraphs>99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Consolas</vt:lpstr>
      <vt:lpstr>Office テーマ</vt:lpstr>
      <vt:lpstr>getint関数について</vt:lpstr>
      <vt:lpstr>準備</vt:lpstr>
      <vt:lpstr>main関数の仮引数について</vt:lpstr>
      <vt:lpstr>getint関数の引数について</vt:lpstr>
      <vt:lpstr>getint関数の引数について</vt:lpstr>
      <vt:lpstr>getint関数の引数について</vt:lpstr>
      <vt:lpstr>getint関数の引数について</vt:lpstr>
      <vt:lpstr>作業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getint関数について</dc:title>
  <dc:creator>田辺 誠(宇部)</dc:creator>
  <cp:lastModifiedBy>田辺 誠(宇部)</cp:lastModifiedBy>
  <cp:revision>3</cp:revision>
  <dcterms:created xsi:type="dcterms:W3CDTF">2023-05-11T08:34:36Z</dcterms:created>
  <dcterms:modified xsi:type="dcterms:W3CDTF">2024-05-16T01:54:41Z</dcterms:modified>
</cp:coreProperties>
</file>